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923537bb-f0fe-a61c-64c0-5bd0cbfead05}">
          <p14:sldIdLst>
            <p14:sldId id="256"/>
            <p14:sldId id="257"/>
            <p14:sldId id="258"/>
            <p14:sldId id="259"/>
          </p14:sldIdLst>
        </p14:section>
        <p14:section name="Funciones" id="{3fe83e1c-d87f-8e97-4d4c-4d4d1e471e5e}">
          <p14:sldIdLst>
            <p14:sldId id="260"/>
          </p14:sldIdLst>
        </p14:section>
        <p14:section name="Procedimientos" id="{a85e9581-6e53-ce7a-f95b-38056f2b8ffa}">
          <p14:sldIdLst>
            <p14:sldId id="261"/>
          </p14:sldIdLst>
        </p14:section>
        <p14:section name="Package y triggers" id="{c0fe6921-c749-33a1-6c59-c1c053f3f08b}">
          <p14:sldIdLst>
            <p14:sldId id="262"/>
            <p14:sldId id="263"/>
            <p14:sldId id="264"/>
            <p14:sldId id="265"/>
          </p14:sldIdLst>
        </p14:section>
        <p14:section name="Cierre" id="{4d330920-dc60-4eed-8a28-71484fd187f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2A3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32A36"/>
                </a:solidFill>
                <a:latin typeface="+mn-lt"/>
              </a:rPr>
              <a:t>Ingreso total con IVA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 total</c:v>
                </c:pt>
              </c:strCache>
            </c:strRef>
          </c:tx>
          <c:spPr>
            <a:solidFill>
              <a:srgbClr val="E896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Pantalla LED</c:v>
                  </c:pt>
                  <c:pt idx="1">
                    <c:v>Iluminación Escénica</c:v>
                  </c:pt>
                  <c:pt idx="2">
                    <c:v>Sistema de Sonido</c:v>
                  </c:pt>
                  <c:pt idx="3">
                    <c:v>Consola de Mezcla</c:v>
                  </c:pt>
                  <c:pt idx="4">
                    <c:v>Proyector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5208630</c:v>
                </c:pt>
                <c:pt idx="1">
                  <c:v>4370275</c:v>
                </c:pt>
                <c:pt idx="2">
                  <c:v>3688762</c:v>
                </c:pt>
                <c:pt idx="3">
                  <c:v>3155642</c:v>
                </c:pt>
                <c:pt idx="4">
                  <c:v>2813160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Javier. Ver guion.md, diapositiva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Javier. Ver guion.md, diapositiva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Javier. Ver guion.md, diapositiva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Javier. Recorrer de arriba hacia abajo. Ver guion.md, diapositiva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Javier. Mostrar sql/02_funciones.sql y ejecutar 06_demo.sql líneas 11 y 14-21. Ver guion.md, diapositiva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Gustavo. Mostrar sql/03_procedimientos.sql y ejecutar 06_demo.sql líneas 24-36. Ver guion.md, diapositiva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Martín. Mostrar sql/04_package.sql. Ejecutar 06_demo.sql línea 40 y la Prueba 12. Ver guion.md, diapositiva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Martín. Mostrar sql/05_triggers.sql y ejecutar 06_demo.sql líneas 43-56 y la Prueba 9. Ver guion.md, diapositiva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Martín. Ejecutar 06_demo.sql línea 42 (SELECT * FROM resumen_arriendo_tipo). Ver guion.md, diapositiva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Martín. Ver guion.md, diapositiva 10 y sección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tres, una idea cada uno: Javier funciones, Gustavo procedimientos, Martín package y triggers. Ver guion.md, diapositiva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tres. Ver guion.md, sección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9184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AV EVENTS · EP2 Taller de Base de Datos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BDY1103 · TALLER DE BASE DE DATOS · EVALUACIÓN PARCIAL N°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Sistema de Facturación de Arriendos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9184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AV EVENTS LTDA. — procedimientos, funciones, package y triggers en PL/SQL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Integrantes: Gustavo Giha · Javier Jorquera · Martín Narváez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Docente: Marco Antonio Japke Adriasola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Cómo nos dividimos la presentación</a:t>
            </a:r>
            <a:endParaRPr lang="en-US" sz="3400" dirty="0"/>
          </a:p>
        </p:txBody>
      </p:sp>
      <p:sp>
        <p:nvSpPr>
          <p:cNvPr id="3" name="Tarjeta agenda 1"/>
          <p:cNvSpPr/>
          <p:nvPr/>
        </p:nvSpPr>
        <p:spPr>
          <a:xfrm>
            <a:off x="548640" y="146304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agenda 1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agenda 1 texto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Nombre agenda 1"/>
          <p:cNvSpPr txBox="1"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Javier Jorquera</a:t>
            </a:r>
            <a:endParaRPr lang="en-US" sz="2000" dirty="0"/>
          </a:p>
        </p:txBody>
      </p:sp>
      <p:sp>
        <p:nvSpPr>
          <p:cNvPr id="7" name="Tema agenda 1"/>
          <p:cNvSpPr txBox="1"/>
          <p:nvPr/>
        </p:nvSpPr>
        <p:spPr>
          <a:xfrm>
            <a:off x="822960" y="31089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problema y las funciones almacenadas</a:t>
            </a:r>
            <a:endParaRPr lang="en-US" sz="1600" dirty="0"/>
          </a:p>
        </p:txBody>
      </p:sp>
      <p:sp>
        <p:nvSpPr>
          <p:cNvPr id="8" name="Archivo agenda 1"/>
          <p:cNvSpPr txBox="1"/>
          <p:nvPr/>
        </p:nvSpPr>
        <p:spPr>
          <a:xfrm>
            <a:off x="822960" y="4389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sql/02_funciones.sql</a:t>
            </a:r>
            <a:endParaRPr lang="en-US" sz="1200" dirty="0"/>
          </a:p>
        </p:txBody>
      </p:sp>
      <p:sp>
        <p:nvSpPr>
          <p:cNvPr id="9" name="Tarjeta agenda 2"/>
          <p:cNvSpPr/>
          <p:nvPr/>
        </p:nvSpPr>
        <p:spPr>
          <a:xfrm>
            <a:off x="4343400" y="146304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úmero agenda 2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úmero agenda 2 texto"/>
          <p:cNvSpPr txBox="1"/>
          <p:nvPr/>
        </p:nvSpPr>
        <p:spPr>
          <a:xfrm>
            <a:off x="4617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Nombre agenda 2"/>
          <p:cNvSpPr txBox="1"/>
          <p:nvPr/>
        </p:nvSpPr>
        <p:spPr>
          <a:xfrm>
            <a:off x="461772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Gustavo Giha</a:t>
            </a:r>
            <a:endParaRPr lang="en-US" sz="2000" dirty="0"/>
          </a:p>
        </p:txBody>
      </p:sp>
      <p:sp>
        <p:nvSpPr>
          <p:cNvPr id="13" name="Tema agenda 2"/>
          <p:cNvSpPr txBox="1"/>
          <p:nvPr/>
        </p:nvSpPr>
        <p:spPr>
          <a:xfrm>
            <a:off x="4617720" y="31089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Procedimientos almacenados con y sin parámetros</a:t>
            </a:r>
            <a:endParaRPr lang="en-US" sz="1600" dirty="0"/>
          </a:p>
        </p:txBody>
      </p:sp>
      <p:sp>
        <p:nvSpPr>
          <p:cNvPr id="14" name="Archivo agenda 2"/>
          <p:cNvSpPr txBox="1"/>
          <p:nvPr/>
        </p:nvSpPr>
        <p:spPr>
          <a:xfrm>
            <a:off x="4617720" y="4389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sql/03_procedimientos.sql</a:t>
            </a:r>
            <a:endParaRPr lang="en-US" sz="1200" dirty="0"/>
          </a:p>
        </p:txBody>
      </p:sp>
      <p:sp>
        <p:nvSpPr>
          <p:cNvPr id="15" name="Tarjeta agenda 3"/>
          <p:cNvSpPr/>
          <p:nvPr/>
        </p:nvSpPr>
        <p:spPr>
          <a:xfrm>
            <a:off x="8138160" y="146304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úmero agenda 3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úmero agenda 3 texto"/>
          <p:cNvSpPr txBox="1"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Nombre agenda 3"/>
          <p:cNvSpPr txBox="1"/>
          <p:nvPr/>
        </p:nvSpPr>
        <p:spPr>
          <a:xfrm>
            <a:off x="841248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Martín Narváez</a:t>
            </a:r>
            <a:endParaRPr lang="en-US" sz="2000" dirty="0"/>
          </a:p>
        </p:txBody>
      </p:sp>
      <p:sp>
        <p:nvSpPr>
          <p:cNvPr id="19" name="Tema agenda 3"/>
          <p:cNvSpPr txBox="1"/>
          <p:nvPr/>
        </p:nvSpPr>
        <p:spPr>
          <a:xfrm>
            <a:off x="8412480" y="31089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Package (público y privado) y triggers (fila y sentencia)</a:t>
            </a:r>
            <a:endParaRPr lang="en-US" sz="1600" dirty="0"/>
          </a:p>
        </p:txBody>
      </p:sp>
      <p:sp>
        <p:nvSpPr>
          <p:cNvPr id="20" name="Archivo agenda 3"/>
          <p:cNvSpPr txBox="1"/>
          <p:nvPr/>
        </p:nvSpPr>
        <p:spPr>
          <a:xfrm>
            <a:off x="8412480" y="4389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sql/04_package.sql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sql/05_triggers.sql</a:t>
            </a:r>
            <a:endParaRPr lang="en-US" sz="1200" dirty="0"/>
          </a:p>
        </p:txBody>
      </p:sp>
      <p:sp>
        <p:nvSpPr>
          <p:cNvPr id="21" name="Nota agenda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Cada uno puede responder sobre cualquier parte del proyecto, no solo la suya.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problema: los arriendos no se facturan solos</a:t>
            </a:r>
            <a:endParaRPr lang="en-US" sz="3400" dirty="0"/>
          </a:p>
        </p:txBody>
      </p:sp>
      <p:sp>
        <p:nvSpPr>
          <p:cNvPr id="3" name="Texto problema"/>
          <p:cNvSpPr txBox="1"/>
          <p:nvPr/>
        </p:nvSpPr>
        <p:spPr>
          <a:xfrm>
            <a:off x="548640" y="14630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 EVENTS arrienda proyectores, sonido, iluminación, pantallas LED y consolas.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arriendo queda en ARRIENDO_EQUIPO_AV, pero nadie calcula cuánto cobrar.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Nuestro proceso genera FACTURA_ARRIENDO y un resumen en RESUMEN_ARRIENDO_TIPO.</a:t>
            </a:r>
            <a:endParaRPr lang="en-US" sz="1600" dirty="0"/>
          </a:p>
        </p:txBody>
      </p:sp>
      <p:sp>
        <p:nvSpPr>
          <p:cNvPr id="4" name="Tarjeta fórmula"/>
          <p:cNvSpPr/>
          <p:nvPr/>
        </p:nvSpPr>
        <p:spPr>
          <a:xfrm>
            <a:off x="548640" y="4114800"/>
            <a:ext cx="5760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ítulo fórmula"/>
          <p:cNvSpPr txBox="1"/>
          <p:nvPr/>
        </p:nvSpPr>
        <p:spPr>
          <a:xfrm>
            <a:off x="822960" y="4297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Cómo se calcula una factura</a:t>
            </a:r>
            <a:endParaRPr lang="en-US" sz="1600" dirty="0"/>
          </a:p>
        </p:txBody>
      </p:sp>
      <p:sp>
        <p:nvSpPr>
          <p:cNvPr id="6" name="Fórmula"/>
          <p:cNvSpPr txBox="1"/>
          <p:nvPr/>
        </p:nvSpPr>
        <p:spPr>
          <a:xfrm>
            <a:off x="822960" y="4800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días × valor diario  →  ± ajuste del cliente  →  + IVA 19%</a:t>
            </a:r>
            <a:endParaRPr lang="en-US" sz="1800" dirty="0"/>
          </a:p>
        </p:txBody>
      </p:sp>
      <p:graphicFrame>
        <p:nvGraphicFramePr>
          <p:cNvPr id="4" name="Tabla ajus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463040"/>
          <a:ext cx="47548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Tipo de cliente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Ajuste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Socio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-15%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Premium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-10%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Nacional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-5%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Extranjero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+8%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tat arriendos"/>
          <p:cNvSpPr txBox="1"/>
          <p:nvPr/>
        </p:nvSpPr>
        <p:spPr>
          <a:xfrm>
            <a:off x="6858000" y="4023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103</a:t>
            </a:r>
            <a:endParaRPr lang="en-US" sz="5400" dirty="0"/>
          </a:p>
        </p:txBody>
      </p:sp>
      <p:sp>
        <p:nvSpPr>
          <p:cNvPr id="9" name="Stat arriendos label"/>
          <p:cNvSpPr txBox="1"/>
          <p:nvPr/>
        </p:nvSpPr>
        <p:spPr>
          <a:xfrm>
            <a:off x="685800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arriendos en la base</a:t>
            </a:r>
            <a:endParaRPr lang="en-US" sz="1200" dirty="0"/>
          </a:p>
        </p:txBody>
      </p:sp>
      <p:sp>
        <p:nvSpPr>
          <p:cNvPr id="10" name="Stat marzo"/>
          <p:cNvSpPr txBox="1"/>
          <p:nvPr/>
        </p:nvSpPr>
        <p:spPr>
          <a:xfrm>
            <a:off x="9418320" y="4023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23</a:t>
            </a:r>
            <a:endParaRPr lang="en-US" sz="5400" dirty="0"/>
          </a:p>
        </p:txBody>
      </p:sp>
      <p:sp>
        <p:nvSpPr>
          <p:cNvPr id="11" name="Stat marzo label"/>
          <p:cNvSpPr txBox="1"/>
          <p:nvPr/>
        </p:nvSpPr>
        <p:spPr>
          <a:xfrm>
            <a:off x="94183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 facturar en marzo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Cómo se conecta todo</a:t>
            </a:r>
            <a:endParaRPr lang="en-US" sz="3400" dirty="0"/>
          </a:p>
        </p:txBody>
      </p:sp>
      <p:sp>
        <p:nvSpPr>
          <p:cNvPr id="3" name="Paso PACKAGE"/>
          <p:cNvSpPr/>
          <p:nvPr/>
        </p:nvSpPr>
        <p:spPr>
          <a:xfrm>
            <a:off x="548640" y="1371600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Etiqueta PACKAGE"/>
          <p:cNvSpPr txBox="1"/>
          <p:nvPr/>
        </p:nvSpPr>
        <p:spPr>
          <a:xfrm>
            <a:off x="82296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PACKAGE</a:t>
            </a:r>
            <a:endParaRPr lang="en-US" sz="1300" dirty="0"/>
          </a:p>
        </p:txBody>
      </p:sp>
      <p:sp>
        <p:nvSpPr>
          <p:cNvPr id="5" name="Detalle PACKAGE"/>
          <p:cNvSpPr txBox="1"/>
          <p:nvPr/>
        </p:nvSpPr>
        <p:spPr>
          <a:xfrm>
            <a:off x="82296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pkg_facturacion.sp_proceso_mensual(3, 2026)</a:t>
            </a:r>
            <a:endParaRPr lang="en-US" sz="1600" dirty="0"/>
          </a:p>
        </p:txBody>
      </p:sp>
      <p:sp>
        <p:nvSpPr>
          <p:cNvPr id="6" name="Flecha 0"/>
          <p:cNvSpPr/>
          <p:nvPr/>
        </p:nvSpPr>
        <p:spPr>
          <a:xfrm>
            <a:off x="3840480" y="2304288"/>
            <a:ext cx="365760" cy="237744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Paso PROCEDIMIENTO"/>
          <p:cNvSpPr/>
          <p:nvPr/>
        </p:nvSpPr>
        <p:spPr>
          <a:xfrm>
            <a:off x="548640" y="2560320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Etiqueta PROCEDIMIENTO"/>
          <p:cNvSpPr txBox="1"/>
          <p:nvPr/>
        </p:nvSpPr>
        <p:spPr>
          <a:xfrm>
            <a:off x="822960" y="2670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PROCEDIMIENTO</a:t>
            </a:r>
            <a:endParaRPr lang="en-US" sz="1300" dirty="0"/>
          </a:p>
        </p:txBody>
      </p:sp>
      <p:sp>
        <p:nvSpPr>
          <p:cNvPr id="9" name="Detalle PROCEDIMIENTO"/>
          <p:cNvSpPr txBox="1"/>
          <p:nvPr/>
        </p:nvSpPr>
        <p:spPr>
          <a:xfrm>
            <a:off x="822960" y="2971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sp_generar_facturas: recorre los arriendos del mes</a:t>
            </a:r>
            <a:endParaRPr lang="en-US" sz="1600" dirty="0"/>
          </a:p>
        </p:txBody>
      </p:sp>
      <p:sp>
        <p:nvSpPr>
          <p:cNvPr id="10" name="Flecha 1"/>
          <p:cNvSpPr/>
          <p:nvPr/>
        </p:nvSpPr>
        <p:spPr>
          <a:xfrm>
            <a:off x="3840480" y="3493008"/>
            <a:ext cx="365760" cy="237744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o FUNCIONES"/>
          <p:cNvSpPr/>
          <p:nvPr/>
        </p:nvSpPr>
        <p:spPr>
          <a:xfrm>
            <a:off x="548640" y="3749040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Etiqueta FUNCIONES"/>
          <p:cNvSpPr txBox="1"/>
          <p:nvPr/>
        </p:nvSpPr>
        <p:spPr>
          <a:xfrm>
            <a:off x="822960" y="3858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FUNCIONES</a:t>
            </a:r>
            <a:endParaRPr lang="en-US" sz="1300" dirty="0"/>
          </a:p>
        </p:txBody>
      </p:sp>
      <p:sp>
        <p:nvSpPr>
          <p:cNvPr id="13" name="Detalle FUNCIONES"/>
          <p:cNvSpPr txBox="1"/>
          <p:nvPr/>
        </p:nvSpPr>
        <p:spPr>
          <a:xfrm>
            <a:off x="82296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calculan el % de ajuste, el monto neto y el IVA</a:t>
            </a:r>
            <a:endParaRPr lang="en-US" sz="1600" dirty="0"/>
          </a:p>
        </p:txBody>
      </p:sp>
      <p:sp>
        <p:nvSpPr>
          <p:cNvPr id="14" name="Flecha 2"/>
          <p:cNvSpPr/>
          <p:nvPr/>
        </p:nvSpPr>
        <p:spPr>
          <a:xfrm>
            <a:off x="3840480" y="4681728"/>
            <a:ext cx="365760" cy="237744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o TRIGGERS"/>
          <p:cNvSpPr/>
          <p:nvPr/>
        </p:nvSpPr>
        <p:spPr>
          <a:xfrm>
            <a:off x="548640" y="4937760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Etiqueta TRIGGERS"/>
          <p:cNvSpPr txBox="1"/>
          <p:nvPr/>
        </p:nvSpPr>
        <p:spPr>
          <a:xfrm>
            <a:off x="822960" y="5047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TRIGGERS</a:t>
            </a:r>
            <a:endParaRPr lang="en-US" sz="1300" dirty="0"/>
          </a:p>
        </p:txBody>
      </p:sp>
      <p:sp>
        <p:nvSpPr>
          <p:cNvPr id="17" name="Detalle TRIGGERS"/>
          <p:cNvSpPr txBox="1"/>
          <p:nvPr/>
        </p:nvSpPr>
        <p:spPr>
          <a:xfrm>
            <a:off x="822960" y="5349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cada INSERT: valida (fila) y audita (sentencia)</a:t>
            </a:r>
            <a:endParaRPr lang="en-US" sz="1600" dirty="0"/>
          </a:p>
        </p:txBody>
      </p:sp>
      <p:sp>
        <p:nvSpPr>
          <p:cNvPr id="18" name="Tarjeta resultado"/>
          <p:cNvSpPr/>
          <p:nvPr/>
        </p:nvSpPr>
        <p:spPr>
          <a:xfrm>
            <a:off x="804672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ítulo resultado"/>
          <p:cNvSpPr txBox="1"/>
          <p:nvPr/>
        </p:nvSpPr>
        <p:spPr>
          <a:xfrm>
            <a:off x="832104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Resultado</a:t>
            </a:r>
            <a:endParaRPr lang="en-US" sz="2000" dirty="0"/>
          </a:p>
        </p:txBody>
      </p:sp>
      <p:sp>
        <p:nvSpPr>
          <p:cNvPr id="20" name="Texto resultado"/>
          <p:cNvSpPr txBox="1"/>
          <p:nvPr/>
        </p:nvSpPr>
        <p:spPr>
          <a:xfrm>
            <a:off x="8321040" y="21031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23 filas en FACTURA_ARRIENDO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 filas en RESUMEN_ARRIENDO_TIPO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operación anotada en AUDITORIA_FACTURA</a:t>
            </a:r>
            <a:endParaRPr lang="en-US" sz="1600" dirty="0"/>
          </a:p>
        </p:txBody>
      </p:sp>
      <p:sp>
        <p:nvSpPr>
          <p:cNvPr id="21" name="Total resultado"/>
          <p:cNvSpPr txBox="1"/>
          <p:nvPr/>
        </p:nvSpPr>
        <p:spPr>
          <a:xfrm>
            <a:off x="8321040" y="4480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$19.236.469</a:t>
            </a:r>
            <a:endParaRPr lang="en-US" sz="3000" dirty="0"/>
          </a:p>
        </p:txBody>
      </p:sp>
      <p:sp>
        <p:nvSpPr>
          <p:cNvPr id="22" name="Total resultado label"/>
          <p:cNvSpPr txBox="1"/>
          <p:nvPr/>
        </p:nvSpPr>
        <p:spPr>
          <a:xfrm>
            <a:off x="832104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facturado en marzo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Funciones: cálculos que devuelven un valor</a:t>
            </a:r>
            <a:endParaRPr lang="en-US" sz="3400" dirty="0"/>
          </a:p>
        </p:txBody>
      </p:sp>
      <p:graphicFrame>
        <p:nvGraphicFramePr>
          <p:cNvPr id="6" name="Tabla funcion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92608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Función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Parámetros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Qué devuelve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fn_total_facturas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sin parámetros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cantidad de facturas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fn_obtener_pct_ajuste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tipo de cliente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% de ajuste (0 si no existe)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fn_aplicar_ajuste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monto, %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monto con descuento o recargo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fn_calcular_iva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monto neto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IVA del 19%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ítulo uso SQL"/>
          <p:cNvSpPr txBox="1"/>
          <p:nvPr/>
        </p:nvSpPr>
        <p:spPr>
          <a:xfrm>
            <a:off x="548640" y="3931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Usada en una sentencia SQL</a:t>
            </a:r>
            <a:endParaRPr lang="en-US" sz="1800" dirty="0"/>
          </a:p>
        </p:txBody>
      </p:sp>
      <p:sp>
        <p:nvSpPr>
          <p:cNvPr id="5" name="Código uso SQL fondo"/>
          <p:cNvSpPr/>
          <p:nvPr/>
        </p:nvSpPr>
        <p:spPr>
          <a:xfrm>
            <a:off x="548640" y="4389120"/>
            <a:ext cx="53949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ódigo uso SQL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fn_total_facturas FROM dual;</a:t>
            </a:r>
            <a:endParaRPr lang="en-US" sz="1400" dirty="0"/>
          </a:p>
        </p:txBody>
      </p:sp>
      <p:sp>
        <p:nvSpPr>
          <p:cNvPr id="7" name="Nota uso SQL"/>
          <p:cNvSpPr txBox="1"/>
          <p:nvPr/>
        </p:nvSpPr>
        <p:spPr>
          <a:xfrm>
            <a:off x="548640" y="4983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También dentro de un SELECT sobre los 103 arriendos.</a:t>
            </a:r>
            <a:endParaRPr lang="en-US" sz="1400" dirty="0"/>
          </a:p>
        </p:txBody>
      </p:sp>
      <p:sp>
        <p:nvSpPr>
          <p:cNvPr id="8" name="Título uso PLSQL"/>
          <p:cNvSpPr txBox="1"/>
          <p:nvPr/>
        </p:nvSpPr>
        <p:spPr>
          <a:xfrm>
            <a:off x="6217920" y="3931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Usada en otro programa PL/SQL</a:t>
            </a:r>
            <a:endParaRPr lang="en-US" sz="1800" dirty="0"/>
          </a:p>
        </p:txBody>
      </p:sp>
      <p:sp>
        <p:nvSpPr>
          <p:cNvPr id="9" name="Código uso PLSQL fondo"/>
          <p:cNvSpPr/>
          <p:nvPr/>
        </p:nvSpPr>
        <p:spPr>
          <a:xfrm>
            <a:off x="6217920" y="4389120"/>
            <a:ext cx="53949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Código uso PLSQL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v_iva := fn_calcular_iva(v_monto_neto);</a:t>
            </a:r>
            <a:endParaRPr lang="en-US" sz="1400" dirty="0"/>
          </a:p>
        </p:txBody>
      </p:sp>
      <p:sp>
        <p:nvSpPr>
          <p:cNvPr id="11" name="Nota uso PLSQL"/>
          <p:cNvSpPr txBox="1"/>
          <p:nvPr/>
        </p:nvSpPr>
        <p:spPr>
          <a:xfrm>
            <a:off x="6217920" y="4983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Dentro de sp_generar_facturas (archivo 03).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Procedimientos: el trabajo del mes en una llamada</a:t>
            </a:r>
            <a:endParaRPr lang="en-US" sz="3400" dirty="0"/>
          </a:p>
        </p:txBody>
      </p:sp>
      <p:sp>
        <p:nvSpPr>
          <p:cNvPr id="3" name="Tarjeta con parámetros"/>
          <p:cNvSpPr/>
          <p:nvPr/>
        </p:nvSpPr>
        <p:spPr>
          <a:xfrm>
            <a:off x="548640" y="1371600"/>
            <a:ext cx="658368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ítulo con parámetros"/>
          <p:cNvSpPr txBox="1"/>
          <p:nvPr/>
        </p:nvSpPr>
        <p:spPr>
          <a:xfrm>
            <a:off x="82296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 parámetros</a:t>
            </a:r>
            <a:endParaRPr lang="en-US" sz="1400" dirty="0"/>
          </a:p>
        </p:txBody>
      </p:sp>
      <p:sp>
        <p:nvSpPr>
          <p:cNvPr id="5" name="Firma con parámetros"/>
          <p:cNvSpPr txBox="1"/>
          <p:nvPr/>
        </p:nvSpPr>
        <p:spPr>
          <a:xfrm>
            <a:off x="822960" y="1965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sp_generar_facturas(p_mes, p_anno)</a:t>
            </a:r>
            <a:endParaRPr lang="en-US" sz="2000" dirty="0"/>
          </a:p>
        </p:txBody>
      </p:sp>
      <p:sp>
        <p:nvSpPr>
          <p:cNvPr id="6" name="Pasos con parámetros"/>
          <p:cNvSpPr txBox="1"/>
          <p:nvPr/>
        </p:nvSpPr>
        <p:spPr>
          <a:xfrm>
            <a:off x="822960" y="26517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Cursor con parámetros trae los arriendos del 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Revisa si el arriendo ya tiene factura (no duplica)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Calcula con las funciones del archivo 02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Inserta la factura y cuenta cuántas generó</a:t>
            </a:r>
            <a:endParaRPr lang="en-US" sz="1600" dirty="0"/>
          </a:p>
        </p:txBody>
      </p:sp>
      <p:sp>
        <p:nvSpPr>
          <p:cNvPr id="7" name="Tarjeta sin parámetros"/>
          <p:cNvSpPr/>
          <p:nvPr/>
        </p:nvSpPr>
        <p:spPr>
          <a:xfrm>
            <a:off x="7406640" y="1371600"/>
            <a:ext cx="42062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ítulo sin parámetros"/>
          <p:cNvSpPr txBox="1"/>
          <p:nvPr/>
        </p:nvSpPr>
        <p:spPr>
          <a:xfrm>
            <a:off x="768096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Sin parámetros</a:t>
            </a:r>
            <a:endParaRPr lang="en-US" sz="1400" dirty="0"/>
          </a:p>
        </p:txBody>
      </p:sp>
      <p:sp>
        <p:nvSpPr>
          <p:cNvPr id="9" name="Firma sin parámetros"/>
          <p:cNvSpPr txBox="1"/>
          <p:nvPr/>
        </p:nvSpPr>
        <p:spPr>
          <a:xfrm>
            <a:off x="76809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sp_reporte_facturas</a:t>
            </a:r>
            <a:endParaRPr lang="en-US" sz="2000" dirty="0"/>
          </a:p>
        </p:txBody>
      </p:sp>
      <p:sp>
        <p:nvSpPr>
          <p:cNvPr id="10" name="Texto sin parámetros"/>
          <p:cNvSpPr txBox="1"/>
          <p:nvPr/>
        </p:nvSpPr>
        <p:spPr>
          <a:xfrm>
            <a:off x="7680960" y="2560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Lista todas las facturas y el total usando fn_total_facturas.</a:t>
            </a:r>
            <a:endParaRPr lang="en-US" sz="1600" dirty="0"/>
          </a:p>
        </p:txBody>
      </p:sp>
      <p:sp>
        <p:nvSpPr>
          <p:cNvPr id="11" name="Stat facturas"/>
          <p:cNvSpPr txBox="1"/>
          <p:nvPr/>
        </p:nvSpPr>
        <p:spPr>
          <a:xfrm>
            <a:off x="7406640" y="4023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23</a:t>
            </a:r>
            <a:endParaRPr lang="en-US" sz="6000" dirty="0"/>
          </a:p>
        </p:txBody>
      </p:sp>
      <p:sp>
        <p:nvSpPr>
          <p:cNvPr id="12" name="Stat facturas label"/>
          <p:cNvSpPr txBox="1"/>
          <p:nvPr/>
        </p:nvSpPr>
        <p:spPr>
          <a:xfrm>
            <a:off x="7406640" y="5029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facturas generadas con una sola llamada</a:t>
            </a:r>
            <a:endParaRPr lang="en-US" sz="1400" dirty="0"/>
          </a:p>
        </p:txBody>
      </p:sp>
      <p:sp>
        <p:nvSpPr>
          <p:cNvPr id="13" name="Código llamada procedimiento fondo"/>
          <p:cNvSpPr/>
          <p:nvPr/>
        </p:nvSpPr>
        <p:spPr>
          <a:xfrm>
            <a:off x="548640" y="5029200"/>
            <a:ext cx="658368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Código llamada procedimiento"/>
          <p:cNvSpPr txBox="1"/>
          <p:nvPr/>
        </p:nvSpPr>
        <p:spPr>
          <a:xfrm>
            <a:off x="731520" y="5029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sp_generar_facturas(3, 2026); END;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Package pkg_facturacion: qué es público y qué es privado</a:t>
            </a:r>
            <a:endParaRPr lang="en-US" sz="3400" dirty="0"/>
          </a:p>
        </p:txBody>
      </p:sp>
      <p:sp>
        <p:nvSpPr>
          <p:cNvPr id="3" name="Tarjeta público"/>
          <p:cNvSpPr/>
          <p:nvPr/>
        </p:nvSpPr>
        <p:spPr>
          <a:xfrm>
            <a:off x="548640" y="137160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o público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Icono público texto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Pú</a:t>
            </a:r>
            <a:endParaRPr lang="en-US" sz="1800" dirty="0"/>
          </a:p>
        </p:txBody>
      </p:sp>
      <p:sp>
        <p:nvSpPr>
          <p:cNvPr id="6" name="Título público"/>
          <p:cNvSpPr txBox="1"/>
          <p:nvPr/>
        </p:nvSpPr>
        <p:spPr>
          <a:xfrm>
            <a:off x="155448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Público · especificación</a:t>
            </a:r>
            <a:endParaRPr lang="en-US" sz="2000" dirty="0"/>
          </a:p>
        </p:txBody>
      </p:sp>
      <p:sp>
        <p:nvSpPr>
          <p:cNvPr id="7" name="Lista público"/>
          <p:cNvSpPr txBox="1"/>
          <p:nvPr/>
        </p:nvSpPr>
        <p:spPr>
          <a:xfrm>
            <a:off x="822960" y="2468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sp_proceso_mensual: punto de entrada del 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sp_generar_resumen: resumen por tipo de equipo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fn_ingresos_mes: total facturado (se usa en SQL)</a:t>
            </a:r>
            <a:endParaRPr lang="en-US" sz="1600" dirty="0"/>
          </a:p>
        </p:txBody>
      </p:sp>
      <p:sp>
        <p:nvSpPr>
          <p:cNvPr id="8" name="Tarjeta privado"/>
          <p:cNvSpPr/>
          <p:nvPr/>
        </p:nvSpPr>
        <p:spPr>
          <a:xfrm>
            <a:off x="6217920" y="137160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o privado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Icono privado texto"/>
          <p:cNvSpPr txBox="1"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</a:t>
            </a:r>
            <a:endParaRPr lang="en-US" sz="1800" dirty="0"/>
          </a:p>
        </p:txBody>
      </p:sp>
      <p:sp>
        <p:nvSpPr>
          <p:cNvPr id="11" name="Título privado"/>
          <p:cNvSpPr txBox="1"/>
          <p:nvPr/>
        </p:nvSpPr>
        <p:spPr>
          <a:xfrm>
            <a:off x="722376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Privado · solo en el cuerpo</a:t>
            </a:r>
            <a:endParaRPr lang="en-US" sz="2000" dirty="0"/>
          </a:p>
        </p:txBody>
      </p:sp>
      <p:sp>
        <p:nvSpPr>
          <p:cNvPr id="12" name="Lista privado"/>
          <p:cNvSpPr txBox="1"/>
          <p:nvPr/>
        </p:nvSpPr>
        <p:spPr>
          <a:xfrm>
            <a:off x="6492240" y="2468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print_line: imprime mensajes del proceso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fn_clasificar: ALTO / MEDIO / BAJO según ingreso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Desde fuera no existen: error PLS-00302</a:t>
            </a:r>
            <a:endParaRPr lang="en-US" sz="1600" dirty="0"/>
          </a:p>
        </p:txBody>
      </p:sp>
      <p:sp>
        <p:nvSpPr>
          <p:cNvPr id="13" name="Título package SQL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Una función pública se puede usar en SQL; una privada no</a:t>
            </a:r>
            <a:endParaRPr lang="en-US" sz="1800" dirty="0"/>
          </a:p>
        </p:txBody>
      </p:sp>
      <p:sp>
        <p:nvSpPr>
          <p:cNvPr id="14" name="Código package SQL fondo"/>
          <p:cNvSpPr/>
          <p:nvPr/>
        </p:nvSpPr>
        <p:spPr>
          <a:xfrm>
            <a:off x="548640" y="4892040"/>
            <a:ext cx="1106424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Código package SQL"/>
          <p:cNvSpPr txBox="1"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pkg_facturacion.fn_ingresos_mes(3, 2026) FROM dual;   -- 19236469</a:t>
            </a:r>
            <a:endParaRPr lang="en-US" sz="1400" dirty="0"/>
          </a:p>
        </p:txBody>
      </p:sp>
      <p:sp>
        <p:nvSpPr>
          <p:cNvPr id="16" name="Nota package privado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pkg_facturacion.fn_clasificar(...) desde fuera da error PLS-00302 (Prueba 12).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Triggers: a nivel de fila y a nivel de sentencia</a:t>
            </a:r>
            <a:endParaRPr lang="en-US" sz="3400" dirty="0"/>
          </a:p>
        </p:txBody>
      </p:sp>
      <p:sp>
        <p:nvSpPr>
          <p:cNvPr id="3" name="Tarjeta Fila"/>
          <p:cNvSpPr/>
          <p:nvPr/>
        </p:nvSpPr>
        <p:spPr>
          <a:xfrm>
            <a:off x="548640" y="1371600"/>
            <a:ext cx="3611880" cy="393192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ivel Fila"/>
          <p:cNvSpPr txBox="1"/>
          <p:nvPr/>
        </p:nvSpPr>
        <p:spPr>
          <a:xfrm>
            <a:off x="8229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Nivel de fila</a:t>
            </a:r>
            <a:endParaRPr lang="en-US" sz="1400" dirty="0"/>
          </a:p>
        </p:txBody>
      </p:sp>
      <p:sp>
        <p:nvSpPr>
          <p:cNvPr id="5" name="Nombre Fila"/>
          <p:cNvSpPr txBox="1"/>
          <p:nvPr/>
        </p:nvSpPr>
        <p:spPr>
          <a:xfrm>
            <a:off x="82296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trg_valida_factura</a:t>
            </a:r>
            <a:endParaRPr lang="en-US" sz="1700" dirty="0"/>
          </a:p>
        </p:txBody>
      </p:sp>
      <p:sp>
        <p:nvSpPr>
          <p:cNvPr id="6" name="Evento Fila"/>
          <p:cNvSpPr txBox="1"/>
          <p:nvPr/>
        </p:nvSpPr>
        <p:spPr>
          <a:xfrm>
            <a:off x="82296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INSERT … FOR EACH ROW</a:t>
            </a:r>
            <a:endParaRPr lang="en-US" sz="1300" dirty="0"/>
          </a:p>
        </p:txBody>
      </p:sp>
      <p:sp>
        <p:nvSpPr>
          <p:cNvPr id="7" name="Lista Fila"/>
          <p:cNvSpPr txBox="1"/>
          <p:nvPr/>
        </p:nvSpPr>
        <p:spPr>
          <a:xfrm>
            <a:off x="822960" y="310896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ejecuta 1 vez por cada factura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Lee :NEW y rechaza datos malos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RAISE_APPLICATION_ERROR -20001 / -20002</a:t>
            </a:r>
            <a:endParaRPr lang="en-US" sz="1600" dirty="0"/>
          </a:p>
        </p:txBody>
      </p:sp>
      <p:sp>
        <p:nvSpPr>
          <p:cNvPr id="8" name="Tarjeta Sentencia"/>
          <p:cNvSpPr/>
          <p:nvPr/>
        </p:nvSpPr>
        <p:spPr>
          <a:xfrm>
            <a:off x="4389120" y="1371600"/>
            <a:ext cx="3611880" cy="393192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ivel Sentencia"/>
          <p:cNvSpPr txBox="1"/>
          <p:nvPr/>
        </p:nvSpPr>
        <p:spPr>
          <a:xfrm>
            <a:off x="46634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Nivel de sentencia</a:t>
            </a:r>
            <a:endParaRPr lang="en-US" sz="1400" dirty="0"/>
          </a:p>
        </p:txBody>
      </p:sp>
      <p:sp>
        <p:nvSpPr>
          <p:cNvPr id="10" name="Nombre Sentencia"/>
          <p:cNvSpPr txBox="1"/>
          <p:nvPr/>
        </p:nvSpPr>
        <p:spPr>
          <a:xfrm>
            <a:off x="466344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trg_auditoria_factura</a:t>
            </a:r>
            <a:endParaRPr lang="en-US" sz="1700" dirty="0"/>
          </a:p>
        </p:txBody>
      </p:sp>
      <p:sp>
        <p:nvSpPr>
          <p:cNvPr id="11" name="Evento Sentencia"/>
          <p:cNvSpPr txBox="1"/>
          <p:nvPr/>
        </p:nvSpPr>
        <p:spPr>
          <a:xfrm>
            <a:off x="466344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OR UPDATE OR DELETE</a:t>
            </a:r>
            <a:endParaRPr lang="en-US" sz="1300" dirty="0"/>
          </a:p>
        </p:txBody>
      </p:sp>
      <p:sp>
        <p:nvSpPr>
          <p:cNvPr id="12" name="Lista Sentencia"/>
          <p:cNvSpPr txBox="1"/>
          <p:nvPr/>
        </p:nvSpPr>
        <p:spPr>
          <a:xfrm>
            <a:off x="4663440" y="310896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ejecuta 1 vez por sentencia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ve los valores de las filas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Anota la operación en AUDITORIA_FACTURA</a:t>
            </a:r>
            <a:endParaRPr lang="en-US" sz="1600" dirty="0"/>
          </a:p>
        </p:txBody>
      </p:sp>
      <p:sp>
        <p:nvSpPr>
          <p:cNvPr id="13" name="Tarjeta prueba DELETE"/>
          <p:cNvSpPr/>
          <p:nvPr/>
        </p:nvSpPr>
        <p:spPr>
          <a:xfrm>
            <a:off x="8229600" y="1371600"/>
            <a:ext cx="3383280" cy="39319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ítulo prueba DELETE"/>
          <p:cNvSpPr txBox="1"/>
          <p:nvPr/>
        </p:nvSpPr>
        <p:spPr>
          <a:xfrm>
            <a:off x="850392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 prueba en vivo</a:t>
            </a:r>
            <a:endParaRPr lang="en-US" sz="1600" dirty="0"/>
          </a:p>
        </p:txBody>
      </p:sp>
      <p:sp>
        <p:nvSpPr>
          <p:cNvPr id="15" name="Código prueba DELETE"/>
          <p:cNvSpPr txBox="1"/>
          <p:nvPr/>
        </p:nvSpPr>
        <p:spPr>
          <a:xfrm>
            <a:off x="850392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factura_arriendo;</a:t>
            </a:r>
            <a:endParaRPr lang="en-US" sz="1300" dirty="0"/>
          </a:p>
        </p:txBody>
      </p:sp>
      <p:sp>
        <p:nvSpPr>
          <p:cNvPr id="16" name="Stat filas"/>
          <p:cNvSpPr txBox="1"/>
          <p:nvPr/>
        </p:nvSpPr>
        <p:spPr>
          <a:xfrm>
            <a:off x="850392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23</a:t>
            </a:r>
            <a:endParaRPr lang="en-US" sz="4400" dirty="0"/>
          </a:p>
        </p:txBody>
      </p:sp>
      <p:sp>
        <p:nvSpPr>
          <p:cNvPr id="17" name="Stat filas label"/>
          <p:cNvSpPr txBox="1"/>
          <p:nvPr/>
        </p:nvSpPr>
        <p:spPr>
          <a:xfrm>
            <a:off x="850392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filas borradas</a:t>
            </a:r>
            <a:endParaRPr lang="en-US" sz="1200" dirty="0"/>
          </a:p>
        </p:txBody>
      </p:sp>
      <p:sp>
        <p:nvSpPr>
          <p:cNvPr id="18" name="Stat auditoría"/>
          <p:cNvSpPr txBox="1"/>
          <p:nvPr/>
        </p:nvSpPr>
        <p:spPr>
          <a:xfrm>
            <a:off x="1005840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19" name="Stat auditoría label"/>
          <p:cNvSpPr txBox="1"/>
          <p:nvPr/>
        </p:nvSpPr>
        <p:spPr>
          <a:xfrm>
            <a:off x="1005840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línea de auditoría</a:t>
            </a:r>
            <a:endParaRPr lang="en-US" sz="1200" dirty="0"/>
          </a:p>
        </p:txBody>
      </p:sp>
      <p:sp>
        <p:nvSpPr>
          <p:cNvPr id="20" name="Explicación prueba DELETE"/>
          <p:cNvSpPr txBox="1"/>
          <p:nvPr/>
        </p:nvSpPr>
        <p:spPr>
          <a:xfrm>
            <a:off x="8503920" y="4206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Una sola sentencia → el trigger de sentencia se ejecuta una sola vez.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Resultado de marzo por tipo de equipo</a:t>
            </a:r>
            <a:endParaRPr lang="en-US" sz="3400" dirty="0"/>
          </a:p>
        </p:txBody>
      </p:sp>
      <p:graphicFrame>
        <p:nvGraphicFramePr>
          <p:cNvPr id="3" name="Gráfico ingreso por tipo" descr=""/>
          <p:cNvGraphicFramePr/>
          <p:nvPr/>
        </p:nvGraphicFramePr>
        <p:xfrm>
          <a:off x="548640" y="137160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a clasifica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463040"/>
          <a:ext cx="3566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Clasificación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Regla (supuesto)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ALTO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$4.000.000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MEDIO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$3.000.000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BAJO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menos de $3.000.000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 total"/>
          <p:cNvSpPr txBox="1"/>
          <p:nvPr/>
        </p:nvSpPr>
        <p:spPr>
          <a:xfrm>
            <a:off x="8046720" y="3749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$19.236.469</a:t>
            </a:r>
            <a:endParaRPr lang="en-US" sz="3200" dirty="0"/>
          </a:p>
        </p:txBody>
      </p:sp>
      <p:sp>
        <p:nvSpPr>
          <p:cNvPr id="6" name="Stat total label"/>
          <p:cNvSpPr txBox="1"/>
          <p:nvPr/>
        </p:nvSpPr>
        <p:spPr>
          <a:xfrm>
            <a:off x="8046720" y="4480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total facturado en marzo (23 facturas)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Supuestos y código que no está en las guías</a:t>
            </a:r>
            <a:endParaRPr lang="en-US" sz="3400" dirty="0"/>
          </a:p>
        </p:txBody>
      </p:sp>
      <p:sp>
        <p:nvSpPr>
          <p:cNvPr id="3" name="Tarjeta supuestos"/>
          <p:cNvSpPr/>
          <p:nvPr/>
        </p:nvSpPr>
        <p:spPr>
          <a:xfrm>
            <a:off x="548640" y="1371600"/>
            <a:ext cx="42062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ítulo supuestos"/>
          <p:cNvSpPr txBox="1"/>
          <p:nvPr/>
        </p:nvSpPr>
        <p:spPr>
          <a:xfrm>
            <a:off x="82296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Supuestos del equipo</a:t>
            </a:r>
            <a:endParaRPr lang="en-US" sz="2000" dirty="0"/>
          </a:p>
        </p:txBody>
      </p:sp>
      <p:sp>
        <p:nvSpPr>
          <p:cNvPr id="5" name="Lista supuestos"/>
          <p:cNvSpPr txBox="1"/>
          <p:nvPr/>
        </p:nvSpPr>
        <p:spPr>
          <a:xfrm>
            <a:off x="822960" y="21945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IVA de 19%: el caso no indica la tasa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Clasificación ALTO / MEDIO / BAJO por ingreso del 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Proceso de ejemplo: marzo 2026</a:t>
            </a:r>
            <a:endParaRPr lang="en-US" sz="1600" dirty="0"/>
          </a:p>
        </p:txBody>
      </p:sp>
      <p:graphicFrame>
        <p:nvGraphicFramePr>
          <p:cNvPr id="11" name="Tabla código fuera de guí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Por qué lo usamos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 SERVEROUTPUT 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SQL Developer lo pide para mostrar DBMS_OUTPUT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Filtrar por mes y año; viene del script del caso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COMMIT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Guardar los datos; viene del script del caso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Re-ejecutar el archivo; viene del script del caso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Probar el trigger de sentencia y limpiar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Nota fuera de guías"/>
          <p:cNvSpPr txBox="1"/>
          <p:nvPr/>
        </p:nvSpPr>
        <p:spPr>
          <a:xfrm>
            <a:off x="5029200" y="4663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Cada uso está marcado con un comentario en el código.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CONCLUSIÓN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Todo el mes en una sola llamada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9184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Funciones: cada cálculo en un solo lugar, usable en SQL y en PL/SQL.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Procedimientos: facturan todos los arriendos del mes de una vez.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Package y triggers: todo ordenado en un lugar, con validación y auditoría automáticas.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GRACIAS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¿Preguntas?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9184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Gustavo Giha · Javier Jorquera · Martín Narváez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 Events EP2">
  <a:themeElements>
    <a:clrScheme name="AV Events EP2">
      <a:dk1>
        <a:srgbClr val="1B1F27"/>
      </a:dk1>
      <a:lt1>
        <a:srgbClr val="FFFFFF"/>
      </a:lt1>
      <a:dk2>
        <a:srgbClr val="232A36"/>
      </a:dk2>
      <a:lt2>
        <a:srgbClr val="EEF1F5"/>
      </a:lt2>
      <a:accent1>
        <a:srgbClr val="E8962E"/>
      </a:accent1>
      <a:accent2>
        <a:srgbClr val="3B6EA5"/>
      </a:accent2>
      <a:accent3>
        <a:srgbClr val="5B8C5A"/>
      </a:accent3>
      <a:accent4>
        <a:srgbClr val="B5473A"/>
      </a:accent4>
      <a:accent5>
        <a:srgbClr val="7A8494"/>
      </a:accent5>
      <a:accent6>
        <a:srgbClr val="C9D3DF"/>
      </a:accent6>
      <a:hlink>
        <a:srgbClr val="3B6EA5"/>
      </a:hlink>
      <a:folHlink>
        <a:srgbClr val="7A8494"/>
      </a:folHlink>
    </a:clrScheme>
    <a:fontScheme name="AV Events EP2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Facturación de Arriendos - AV EVENTS - EP2</dc:title>
  <dc:subject>PptxGenJS Presentation</dc:subject>
  <dc:creator>Gustavo Giha, Javier Jorquera, Martín Narváez</dc:creator>
  <cp:lastModifiedBy>Gustavo Giha, Javier Jorquera, Martín Narváez</cp:lastModifiedBy>
  <cp:revision>1</cp:revision>
  <dcterms:created xsi:type="dcterms:W3CDTF">2026-10-18T14:31:04Z</dcterms:created>
  <dcterms:modified xsi:type="dcterms:W3CDTF">2026-10-18T14:31:04Z</dcterms:modified>
</cp:coreProperties>
</file>